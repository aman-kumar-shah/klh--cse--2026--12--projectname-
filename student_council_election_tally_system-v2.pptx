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ACADEMIC PROJECT PRESENTATION • JAVA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Georgia"/>
              </a:defRPr>
            </a:pPr>
            <a:r>
              <a:t>Student-Council Election Tally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t>A Secure, Minimalist Java Console Application for Instant-Runoff Voting &amp; Auditability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94484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293B"/>
                </a:solidFill>
                <a:latin typeface="Arial"/>
              </a:defRPr>
            </a:pPr>
            <a:r>
              <a:t>Team Identification: </a:t>
            </a:r>
            <a:r>
              <a:rPr b="0">
                <a:solidFill>
                  <a:srgbClr val="64748B"/>
                </a:solidFill>
              </a:rPr>
              <a:t>Student Council Tech Committee  |  Course Code: CS-201 Object-Oriented Programming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  <a:latin typeface="Arial"/>
              </a:defRPr>
            </a:pPr>
            <a:r>
              <a:t>Project Scope: </a:t>
            </a:r>
            <a:r>
              <a:rPr b="0">
                <a:solidFill>
                  <a:srgbClr val="64748B"/>
                </a:solidFill>
              </a:rPr>
              <a:t>Instant-Runoff Algorithm, Single-Ballot Enforcement, Verifiable Console Audit 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COUNCIL ELECTION TALLY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Instant-Runoff Architecture Eliminates Election Fraud and Plurality Flaws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PROJECT ABSTRACT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This Java console manager addresses voter fraud, duplicate submissions, and hand-counting disputes in student elections by enforcing single-ballot authentication and mathematical instant-runoff vote redistribution.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96265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Georgia"/>
              </a:defRPr>
            </a:pPr>
            <a:r>
              <a:t>Voter Fraud &amp; Double Voting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Problem: Manual paper sign-in sheets allow duplicate votes and identity spoofing.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Solution: HashMap O(1) voter registration lookups with atomic single-vote boolean status flags.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301752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3200400"/>
            <a:ext cx="296265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Georgia"/>
              </a:defRPr>
            </a:pPr>
            <a:r>
              <a:t>Plurality Winner Distortion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Problem: Traditional voting allows candidates to win with sub-30% support due to split votes.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Solution: Instant-Runoff algorithm reallocates votes until a true &gt;50% majority is achieved.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301752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3200400"/>
            <a:ext cx="296265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Georgia"/>
              </a:defRPr>
            </a:pPr>
            <a:r>
              <a:t>Counting Disputes &amp; Errors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Problem: Manual recount discrepancies cause loss of trust in student council results.</a:t>
            </a:r>
          </a:p>
          <a:p>
            <a:pPr>
              <a:spcBef>
                <a:spcPts val="1000"/>
              </a:spcBef>
              <a:defRPr sz="1200" b="1">
                <a:solidFill>
                  <a:srgbClr val="2563EB"/>
                </a:solidFill>
                <a:latin typeface="Arial"/>
              </a:defRPr>
            </a:pPr>
            <a:r>
              <a:t>Solution: Automated console execution with an unalterable real-time event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COUNCIL ELECTION TALLY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System Architecture Directs Core Object-Oriented Course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7550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CO1: Object-Oriented Modular Design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  <a:latin typeface="Georgia"/>
              </a:defRPr>
            </a:pPr>
            <a:r>
              <a:t>Class Hierarchy &amp; Encapsulation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Encapsulates Voter, Candidate, Ballot, and ElectionEngine domain models. Prevents direct data mutation through private fields and getter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28800"/>
            <a:ext cx="517550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2011680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CO2: Data Structures &amp; Hash Mechanics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  <a:latin typeface="Georgia"/>
              </a:defRPr>
            </a:pPr>
            <a:r>
              <a:t>HashMap &amp; List Management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Utilizes HashMap&lt;String, Voter&gt; for instantaneous O(1) voter validation and ArrayList&lt;Candidate&gt; for dynamic round eliminations.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17550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89120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CO3: Algorithm Design &amp; Redistribution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  <a:latin typeface="Georgia"/>
              </a:defRPr>
            </a:pPr>
            <a:r>
              <a:t>Instant-Runoff Elimination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Implements preference redistribution loops to calculate round-by-round tally transfers until a candidate exceeds 50% majority.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4206240"/>
            <a:ext cx="517550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4389120"/>
            <a:ext cx="47183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CO4: Software Integrity &amp; Verification</a:t>
            </a:r>
          </a:p>
          <a:p>
            <a:pPr>
              <a:spcBef>
                <a:spcPts val="300"/>
              </a:spcBef>
              <a:defRPr sz="1600" b="1">
                <a:solidFill>
                  <a:srgbClr val="1E293B"/>
                </a:solidFill>
                <a:latin typeface="Georgia"/>
              </a:defRPr>
            </a:pPr>
            <a:r>
              <a:t>Validation &amp; Audit Transparency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Guarantees error-free execution through console verification logs, input validation guards, and reproducible election audit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COUNCIL ELECTION TALLY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HashMap Registration Lookup Enforces Single-Ballot Security in O(1)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// Single Vote Enforcement Engine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public class ElectionEngine {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private Map&lt;String, Voter&gt; registry = new HashMap&lt;&gt;();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public boolean castVote(String voterId, Ballot ballot) {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    Voter voter = registry.get(voterId);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if (voter == null) {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            System.out.println("ERR: Unregistered Voter!");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    return false;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if (voter.hasVoted()) {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            System.out.println("ALERT: Double Vote Blocked!");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    return false;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        voter.markVoted(); // Atomic state update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    recordBallot(ballot);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return true;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451073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74520"/>
            <a:ext cx="41449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Georgia"/>
              </a:defRPr>
            </a:pPr>
            <a:r>
              <a:t>O(1) Voter Validation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Using HashMap&lt;String, Voter&gt; allows immediate verification of student ID credentials without scanning lists.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200400"/>
            <a:ext cx="451073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337560"/>
            <a:ext cx="41449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Georgia"/>
              </a:defRPr>
            </a:pPr>
            <a:r>
              <a:t>Atomic Double-Vote Guard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The boolean hasVoted flag is checked and updated before ballot acceptance, making double voting impossible.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663440"/>
            <a:ext cx="451073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800600"/>
            <a:ext cx="41449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Georgia"/>
              </a:defRPr>
            </a:pPr>
            <a:r>
              <a:t>Graceful Error Logging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Attempted double votes or unauthenticated IDs trigger security alerts in the audit log without crashing the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COUNCIL ELECTION TALLY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Instant-Runoff Algorithm Reallocates Votes to Guarantee &gt;50% Majority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// Instant-Runoff Preference Tally Engine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public Candidate runInstantRunoff() {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while (true) {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    Map&lt;Candidate, Integer&gt; counts = countFirstPreferences();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    int totalVotes = getTotalActiveVotes();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for (Candidate c : counts.keySet()) {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    if (counts.get(c) &gt; totalVotes / 2) {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                return c; // Majority Winner Found (&gt;50%)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        }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Candidate lowest = findLowestCandidate(counts);</a:t>
            </a:r>
          </a:p>
          <a:p>
            <a:pPr>
              <a:defRPr sz="1100">
                <a:solidFill>
                  <a:srgbClr val="94A3B8"/>
                </a:solidFill>
                <a:latin typeface="Courier New"/>
              </a:defRPr>
            </a:pPr>
            <a:r>
              <a:t>        if (lowest == null) break; // Tie / Finalist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eliminateAndTransfer(lowest);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    return declarePluralityWinner();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451073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74520"/>
            <a:ext cx="41449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Georgia"/>
              </a:defRPr>
            </a:pPr>
            <a:r>
              <a:t>1. First-Preference Count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Calculates top-choice votes for all active candidates in the current round.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200400"/>
            <a:ext cx="451073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337560"/>
            <a:ext cx="41449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Georgia"/>
              </a:defRPr>
            </a:pPr>
            <a:r>
              <a:t>2. Majority Check (&gt;50%)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Evaluates if any candidate holds over 50% of active ballots. If true, election finishes.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663440"/>
            <a:ext cx="451073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800600"/>
            <a:ext cx="41449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Georgia"/>
              </a:defRPr>
            </a:pPr>
            <a:r>
              <a:t>3. Lowest Elimination &amp; Transfer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Removes the lowest-ranking candidate and transfers their ballots to voters' 2nd choices.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COUNCIL ELECTION TALLY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Terminal Console Output Demonstrates Real-Time Runoff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8BDF8"/>
                </a:solidFill>
                <a:latin typeface="Courier New"/>
              </a:defRPr>
            </a:pPr>
            <a:r>
              <a:t>=== STUDENT COUNCIL ELECTION TALLY MENU ===</a:t>
            </a:r>
          </a:p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  <a:r>
              <a:t>[1] Register Voter  [2] Cast Ranked Ballot  [3] Tally</a:t>
            </a:r>
          </a:p>
          <a:p>
            <a:pPr>
              <a:defRPr sz="1050">
                <a:solidFill>
                  <a:srgbClr val="94A3B8"/>
                </a:solidFill>
                <a:latin typeface="Courier New"/>
              </a:defRPr>
            </a:pPr>
            <a:r>
              <a:t>&gt;&gt;&gt; Running Instant-Runoff Tally...</a:t>
            </a:r>
          </a:p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</a:p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  <a:r>
              <a:t>--- ROUND 1 RESULTS ---</a:t>
            </a:r>
          </a:p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  <a:r>
              <a:t>Candidate A: 42% (42 votes)</a:t>
            </a:r>
          </a:p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  <a:r>
              <a:t>Candidate B: 38% (38 votes)</a:t>
            </a:r>
          </a:p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  <a:r>
              <a:t>Candidate C: 20% (20 votes)</a:t>
            </a:r>
          </a:p>
          <a:p>
            <a:pPr>
              <a:defRPr sz="1050">
                <a:solidFill>
                  <a:srgbClr val="94A3B8"/>
                </a:solidFill>
                <a:latin typeface="Courier New"/>
              </a:defRPr>
            </a:pPr>
            <a:r>
              <a:t>No majority (&gt;50%). Candidate C is ELIMINATED.</a:t>
            </a:r>
          </a:p>
          <a:p>
            <a:pPr>
              <a:defRPr sz="1050">
                <a:solidFill>
                  <a:srgbClr val="94A3B8"/>
                </a:solidFill>
                <a:latin typeface="Courier New"/>
              </a:defRPr>
            </a:pPr>
            <a:r>
              <a:t>Reallocating Candidate C 2nd preferences...</a:t>
            </a:r>
          </a:p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</a:p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  <a:r>
              <a:t>--- ROUND 2 RESULTS ---</a:t>
            </a:r>
          </a:p>
          <a:p>
            <a:pPr>
              <a:defRPr sz="1050">
                <a:solidFill>
                  <a:srgbClr val="38BDF8"/>
                </a:solidFill>
                <a:latin typeface="Courier New"/>
              </a:defRPr>
            </a:pPr>
            <a:r>
              <a:t>Candidate A: 54% (54 votes) [WINNER]</a:t>
            </a:r>
          </a:p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  <a:r>
              <a:t>Candidate B: 46% (46 votes)</a:t>
            </a:r>
          </a:p>
          <a:p>
            <a:pPr>
              <a:defRPr sz="1050">
                <a:solidFill>
                  <a:srgbClr val="38BDF8"/>
                </a:solidFill>
                <a:latin typeface="Courier New"/>
              </a:defRPr>
            </a:pPr>
            <a:r>
              <a:t>&gt;&gt;&gt; SUCCESS: Winner declared with 54% majority!</a:t>
            </a:r>
          </a:p>
          <a:p>
            <a:pPr>
              <a:defRPr sz="1050">
                <a:solidFill>
                  <a:srgbClr val="94A3B8"/>
                </a:solidFill>
                <a:latin typeface="Courier New"/>
              </a:defRPr>
            </a:pPr>
            <a:r>
              <a:t>Audit log exported to /logs/election_2026.audit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451073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74520"/>
            <a:ext cx="41449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Georgia"/>
              </a:defRPr>
            </a:pPr>
            <a:r>
              <a:t>Console Audit Trail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Generates timestamped log entries for every ballot cast, voter registration, and candidate elimination round.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200400"/>
            <a:ext cx="451073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337560"/>
            <a:ext cx="41449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Georgia"/>
              </a:defRPr>
            </a:pPr>
            <a:r>
              <a:t>Verification Photography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Project documentation includes location-stamped verification photos from team laboratory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663440"/>
            <a:ext cx="451073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800600"/>
            <a:ext cx="41449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Georgia"/>
              </a:defRPr>
            </a:pPr>
            <a:r>
              <a:t>Digital Repository Link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Full Java source code, unit test suite, and execution guide hosted at github.com/student-council/voting-tally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COUNCIL ELECTION TALLY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System Deliverables Guarantee Security, Fairness, and Transparency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563EB"/>
                </a:solidFill>
                <a:latin typeface="Georgia"/>
              </a:defRPr>
            </a:pPr>
            <a:r>
              <a:t>100%</a:t>
            </a:r>
          </a:p>
          <a:p>
            <a:pPr>
              <a:spcBef>
                <a:spcPts val="1000"/>
              </a:spcBef>
              <a:defRPr sz="1800" b="1">
                <a:solidFill>
                  <a:srgbClr val="1E293B"/>
                </a:solidFill>
                <a:latin typeface="Georgia"/>
              </a:defRPr>
            </a:pPr>
            <a:r>
              <a:t>Single-Vote Security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HashMap credential checks prevent duplicate votes and identity spoofing across all student precincts.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210312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563EB"/>
                </a:solidFill>
                <a:latin typeface="Georgia"/>
              </a:defRPr>
            </a:pPr>
            <a:r>
              <a:t>0</a:t>
            </a:r>
          </a:p>
          <a:p>
            <a:pPr>
              <a:spcBef>
                <a:spcPts val="1000"/>
              </a:spcBef>
              <a:defRPr sz="1800" b="1">
                <a:solidFill>
                  <a:srgbClr val="1E293B"/>
                </a:solidFill>
                <a:latin typeface="Georgia"/>
              </a:defRPr>
            </a:pPr>
            <a:r>
              <a:t>Manual Count Errors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Automated instant-runoff algorithms eliminate human calculation blunders and subjective ballot interpretation.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210312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563EB"/>
                </a:solidFill>
                <a:latin typeface="Georgia"/>
              </a:defRPr>
            </a:pPr>
            <a:r>
              <a:t>&gt;50%</a:t>
            </a:r>
          </a:p>
          <a:p>
            <a:pPr>
              <a:spcBef>
                <a:spcPts val="1000"/>
              </a:spcBef>
              <a:defRPr sz="1800" b="1">
                <a:solidFill>
                  <a:srgbClr val="1E293B"/>
                </a:solidFill>
                <a:latin typeface="Georgia"/>
              </a:defRPr>
            </a:pPr>
            <a:r>
              <a:t>Majority Support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Instant-runoff redistribution guarantees every elected student leader holds genuine majority backing.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