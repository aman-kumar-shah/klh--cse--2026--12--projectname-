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26594c43-e967-42c2-959b-c213e1052358.fntdata" /><ns0:Relationship Id="rIdFont13" Type="http://schemas.openxmlformats.org/officeDocument/2006/relationships/font" Target="fonts/245fd231-c890-44ab-88d5-94c34510ca1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896516"/>
            <a:ext cx="3343275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99558"/>
            <a:ext cx="1428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799558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075" y="4799558"/>
            <a:ext cx="16192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391816"/>
            <a:ext cx="9601200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Student Council Election Tally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08958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secure, object-oriented Java application engineered for Instant-Runoff Voting &amp; Auditability.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953666"/>
            <a:ext cx="3171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CS-201: OBJECT-ORIENTED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9575" y="1944141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Student Council Tech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70983"/>
            <a:ext cx="111442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1175" y="4761458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770983"/>
            <a:ext cx="14097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AUTOMATED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1850" y="4761458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4770983"/>
            <a:ext cx="1333500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AUDITABLE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97968"/>
            <a:ext cx="3378249" cy="2252662"/>
          </a:xfrm>
          <a:prstGeom prst="roundRect">
            <a:avLst>
              <a:gd name="adj" fmla="val 6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797968"/>
            <a:ext cx="3378249" cy="2252662"/>
          </a:xfrm>
          <a:prstGeom prst="roundRect">
            <a:avLst>
              <a:gd name="adj" fmla="val 6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797968"/>
            <a:ext cx="3378249" cy="2252662"/>
          </a:xfrm>
          <a:prstGeom prst="roundRect">
            <a:avLst>
              <a:gd name="adj" fmla="val 6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1229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11229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11229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62" y="3245643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0812" y="3245643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574" y="3245643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Vulnerabilities in Manual Election Tallying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304925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Traditional student council paper voting systems introduce critical security and fairness risks.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759993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Voter Fraud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093368"/>
            <a:ext cx="28448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Manual sign-in sheets enable duplicate voting, ballot stuffing, and identity spoofing.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3759993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Plurality Distortion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274" y="4093368"/>
            <a:ext cx="28448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Split votes allow candidates to win without true majority student backing.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3759993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Counting Disputes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224" y="4093368"/>
            <a:ext cx="28448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Manual paper recounts create human fatigue, errors, and prolonged disputes.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00725"/>
            <a:ext cx="10668000" cy="523875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991891"/>
            <a:ext cx="2524125" cy="1340941"/>
          </a:xfrm>
          <a:prstGeom prst="roundRect">
            <a:avLst>
              <a:gd name="adj" fmla="val 99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6625" y="2991891"/>
            <a:ext cx="2524125" cy="1340941"/>
          </a:xfrm>
          <a:prstGeom prst="roundRect">
            <a:avLst>
              <a:gd name="adj" fmla="val 99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991891"/>
            <a:ext cx="2524125" cy="1340941"/>
          </a:xfrm>
          <a:prstGeom prst="roundRect">
            <a:avLst>
              <a:gd name="adj" fmla="val 99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5875" y="2991891"/>
            <a:ext cx="2524125" cy="1340941"/>
          </a:xfrm>
          <a:prstGeom prst="roundRect">
            <a:avLst>
              <a:gd name="adj" fmla="val 99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32330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991891"/>
            <a:ext cx="25241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6625" y="432330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6625" y="2991891"/>
            <a:ext cx="25241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6625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91225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1250" y="432330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0" y="2991891"/>
            <a:ext cx="25241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1250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05850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5875" y="432330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5875" y="2991891"/>
            <a:ext cx="25241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5875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20475" y="2991891"/>
            <a:ext cx="9525" cy="13409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6000750"/>
            <a:ext cx="12382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Automated &amp; Secure Java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1304925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An object-oriented engine replacing manual counting with rigorous verification and math models.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5972175"/>
            <a:ext cx="2940843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High-Speed Registry Lookups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6725" y="5976937"/>
            <a:ext cx="3845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O(1) data structures eliminate lookup bottlenecks.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" y="3258591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ElectionEngine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" y="3534816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Coordinates verification, tallying, elimination, transfers, and audit logs.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4750" y="3258591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Voter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4750" y="3534816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Independent domain model managing student credentials and voting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3258591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Candidate 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3534816"/>
            <a:ext cx="21431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Tracks vote tallies, active status, and elimination state per round.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58591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Audit &amp; Ballot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34816"/>
            <a:ext cx="21431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Maintains preference rankings and immutable transaction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29300"/>
            <a:ext cx="10668000" cy="49530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080444"/>
            <a:ext cx="2495550" cy="1192410"/>
          </a:xfrm>
          <a:prstGeom prst="roundRect">
            <a:avLst>
              <a:gd name="adj" fmla="val 111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86150" y="3080444"/>
            <a:ext cx="2495550" cy="1192410"/>
          </a:xfrm>
          <a:prstGeom prst="roundRect">
            <a:avLst>
              <a:gd name="adj" fmla="val 111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080444"/>
            <a:ext cx="2495550" cy="1192410"/>
          </a:xfrm>
          <a:prstGeom prst="roundRect">
            <a:avLst>
              <a:gd name="adj" fmla="val 111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34450" y="3080444"/>
            <a:ext cx="2495550" cy="1192410"/>
          </a:xfrm>
          <a:prstGeom prst="roundRect">
            <a:avLst>
              <a:gd name="adj" fmla="val 111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98170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SOLUTION IN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Security &amp; Instant-Runoff Voting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304925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Atomic credential locking combined with algorithmic preference transfers.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5986462"/>
            <a:ext cx="6286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Guaranteed zero duplicate entries and mathematically fair runoff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318569"/>
            <a:ext cx="2524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01.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661469"/>
            <a:ext cx="2114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Check student credentials against the official registry.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3318569"/>
            <a:ext cx="2524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02. 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3661469"/>
            <a:ext cx="2114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Mark voter status instantly upon ballot submission.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318569"/>
            <a:ext cx="2524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03. RUNOFF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661469"/>
            <a:ext cx="2114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Eliminate lowest candidate &amp; redistribute preferences.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3318569"/>
            <a:ext cx="2524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04. MAJORITY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575" y="3661469"/>
            <a:ext cx="2114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Continue iterations until a &gt;50% winner emerges.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34766"/>
            <a:ext cx="2524125" cy="1312366"/>
          </a:xfrm>
          <a:prstGeom prst="roundRect">
            <a:avLst>
              <a:gd name="adj" fmla="val 101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3134766"/>
            <a:ext cx="2524125" cy="1312366"/>
          </a:xfrm>
          <a:prstGeom prst="roundRect">
            <a:avLst>
              <a:gd name="adj" fmla="val 101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34766"/>
            <a:ext cx="2524125" cy="1312366"/>
          </a:xfrm>
          <a:prstGeom prst="roundRect">
            <a:avLst>
              <a:gd name="adj" fmla="val 101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3134766"/>
            <a:ext cx="2524125" cy="1312366"/>
          </a:xfrm>
          <a:prstGeom prst="roundRect">
            <a:avLst>
              <a:gd name="adj" fmla="val 101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CONCLUSION 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System Deliverables &amp;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04925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Robust object-oriented design guaranteeing transparent student government elections.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6153150"/>
            <a:ext cx="1276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CS-201 Object-Oriented Programming • Student Council Tech Committee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372891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01. Security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649116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Duplicate submissions and identity issues stopped at voting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0" y="3372891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02.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4750" y="3649116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Algorithmic tallying completely eliminates manual counting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372891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03. Fair Majority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649116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Continuous IRV process guarantees true majority mandate.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72891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04.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49116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Timestamped `election_2026.audit` records full event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